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90" r:id="rId2"/>
    <p:sldMasterId id="2147483696" r:id="rId3"/>
  </p:sldMasterIdLst>
  <p:notesMasterIdLst>
    <p:notesMasterId r:id="rId14"/>
  </p:notesMasterIdLst>
  <p:sldIdLst>
    <p:sldId id="383" r:id="rId4"/>
    <p:sldId id="342" r:id="rId5"/>
    <p:sldId id="396" r:id="rId6"/>
    <p:sldId id="345" r:id="rId7"/>
    <p:sldId id="387" r:id="rId8"/>
    <p:sldId id="366" r:id="rId9"/>
    <p:sldId id="310" r:id="rId10"/>
    <p:sldId id="318" r:id="rId11"/>
    <p:sldId id="312" r:id="rId12"/>
    <p:sldId id="351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4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799">
          <p15:clr>
            <a:srgbClr val="A4A3A4"/>
          </p15:clr>
        </p15:guide>
        <p15:guide id="5" orient="horz" pos="1162">
          <p15:clr>
            <a:srgbClr val="A4A3A4"/>
          </p15:clr>
        </p15:guide>
        <p15:guide id="6" pos="158">
          <p15:clr>
            <a:srgbClr val="A4A3A4"/>
          </p15:clr>
        </p15:guide>
        <p15:guide id="7" pos="5615">
          <p15:clr>
            <a:srgbClr val="A4A3A4"/>
          </p15:clr>
        </p15:guide>
        <p15:guide id="8" pos="4967">
          <p15:clr>
            <a:srgbClr val="A4A3A4"/>
          </p15:clr>
        </p15:guide>
        <p15:guide id="9" pos="11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D23"/>
    <a:srgbClr val="DA4D5C"/>
    <a:srgbClr val="ED2B42"/>
    <a:srgbClr val="FCDB95"/>
    <a:srgbClr val="DCDDDE"/>
    <a:srgbClr val="009900"/>
    <a:srgbClr val="0000CC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7" autoAdjust="0"/>
    <p:restoredTop sz="80404" autoAdjust="0"/>
  </p:normalViewPr>
  <p:slideViewPr>
    <p:cSldViewPr>
      <p:cViewPr varScale="1">
        <p:scale>
          <a:sx n="127" d="100"/>
          <a:sy n="127" d="100"/>
        </p:scale>
        <p:origin x="1320" y="192"/>
      </p:cViewPr>
      <p:guideLst>
        <p:guide orient="horz" pos="164"/>
        <p:guide orient="horz" pos="4156"/>
        <p:guide orient="horz" pos="4065"/>
        <p:guide orient="horz" pos="799"/>
        <p:guide orient="horz" pos="1162"/>
        <p:guide pos="158"/>
        <p:guide pos="5615"/>
        <p:guide pos="4967"/>
        <p:guide pos="11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C67AC849-19F6-4005-B03B-2E5B11541F5D}" type="datetimeFigureOut">
              <a:rPr lang="en-US"/>
              <a:pPr>
                <a:defRPr/>
              </a:pPr>
              <a:t>5/8/25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F095C4C-A269-498F-B608-25A42E521BF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2083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615442F-588A-4C2C-9CD0-BAB78264B88C}" type="slidenum">
              <a:rPr lang="en-A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72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 userDrawn="1"/>
        </p:nvSpPr>
        <p:spPr bwMode="black">
          <a:xfrm flipH="1">
            <a:off x="928688" y="260350"/>
            <a:ext cx="8001000" cy="954088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ltGray">
          <a:xfrm>
            <a:off x="1071563" y="0"/>
            <a:ext cx="8072437" cy="5786438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6332" name="Title Placeholder 1"/>
          <p:cNvSpPr>
            <a:spLocks noGrp="1"/>
          </p:cNvSpPr>
          <p:nvPr>
            <p:ph type="ctrTitle"/>
          </p:nvPr>
        </p:nvSpPr>
        <p:spPr bwMode="black">
          <a:xfrm>
            <a:off x="1331913" y="260350"/>
            <a:ext cx="7581900" cy="1081088"/>
          </a:xfrm>
        </p:spPr>
        <p:txBody>
          <a:bodyPr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56333" name="Text Placeholder 2"/>
          <p:cNvSpPr>
            <a:spLocks noGrp="1"/>
          </p:cNvSpPr>
          <p:nvPr>
            <p:ph type="subTitle" idx="1"/>
          </p:nvPr>
        </p:nvSpPr>
        <p:spPr bwMode="black">
          <a:xfrm>
            <a:off x="1331913" y="1341438"/>
            <a:ext cx="7581900" cy="503237"/>
          </a:xfrm>
        </p:spPr>
        <p:txBody>
          <a:bodyPr lIns="90000"/>
          <a:lstStyle>
            <a:lvl1pPr marL="0" indent="0">
              <a:buFont typeface="Arial" charset="0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4" name="Rectangle 13"/>
          <p:cNvSpPr>
            <a:spLocks noChangeArrowheads="1"/>
          </p:cNvSpPr>
          <p:nvPr userDrawn="1"/>
        </p:nvSpPr>
        <p:spPr bwMode="ltGray">
          <a:xfrm>
            <a:off x="1071563" y="4200525"/>
            <a:ext cx="2303462" cy="2303463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1090613" y="4219575"/>
            <a:ext cx="226695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charset="0"/>
              <a:buNone/>
            </a:pPr>
            <a:r>
              <a:rPr lang="en-US" sz="1200" dirty="0"/>
              <a:t>FACULTY OF</a:t>
            </a:r>
            <a:br>
              <a:rPr lang="en-US" sz="1200" dirty="0"/>
            </a:br>
            <a:r>
              <a:rPr lang="en-US" sz="1200" dirty="0"/>
              <a:t>ENGINEERING</a:t>
            </a:r>
          </a:p>
        </p:txBody>
      </p:sp>
    </p:spTree>
  </p:cSld>
  <p:clrMapOvr>
    <a:masterClrMapping/>
  </p:clrMapOvr>
  <p:transition>
    <p:pull dir="r"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6" y="428625"/>
            <a:ext cx="8662988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5C958E-F62C-4427-BED2-9F2AD66C62E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088EBFD-2719-4D5B-876A-23461AAFC24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6" y="428625"/>
            <a:ext cx="8662988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357313"/>
            <a:ext cx="42545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357313"/>
            <a:ext cx="4256088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D5713E-7A65-426C-8722-E41458A6066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49C794-EA7E-45BB-A3B3-2C2DF2585BB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28625"/>
            <a:ext cx="8662293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3C56F3-CB51-44FC-B5BD-A13B9C64DB2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34665D-04FA-42E6-97B2-B78037A2A84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786BFA-43B5-4915-91D5-D9EABB71ABF1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04B6A7-9496-437D-8CDE-1F297D3DA6E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6" y="428625"/>
            <a:ext cx="8662988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1E4C1B-89FA-4762-B603-3FB06F7CFCC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8463" y="428625"/>
            <a:ext cx="2165350" cy="602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428625"/>
            <a:ext cx="6345238" cy="602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3A4029-3F5F-424F-BEA0-687F10274E0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6" name="Picture 9" descr="lecture_theatre.jpg"/>
          <p:cNvPicPr>
            <a:picLocks noChangeAspect="1"/>
          </p:cNvPicPr>
          <p:nvPr userDrawn="1"/>
        </p:nvPicPr>
        <p:blipFill>
          <a:blip r:embed="rId2" cstate="print"/>
          <a:srcRect l="12701" t="6534" r="6001" b="13710"/>
          <a:stretch>
            <a:fillRect/>
          </a:stretch>
        </p:blipFill>
        <p:spPr bwMode="auto">
          <a:xfrm>
            <a:off x="0" y="3357563"/>
            <a:ext cx="9142413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>
            <a:spLocks noChangeArrowheads="1"/>
          </p:cNvSpPr>
          <p:nvPr userDrawn="1"/>
        </p:nvSpPr>
        <p:spPr bwMode="ltGray">
          <a:xfrm>
            <a:off x="0" y="0"/>
            <a:ext cx="9144000" cy="3429000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2473" name="Title Placeholder 1"/>
          <p:cNvSpPr>
            <a:spLocks noGrp="1"/>
          </p:cNvSpPr>
          <p:nvPr>
            <p:ph type="ctrTitle"/>
          </p:nvPr>
        </p:nvSpPr>
        <p:spPr bwMode="black">
          <a:xfrm>
            <a:off x="250825" y="260350"/>
            <a:ext cx="8662988" cy="1081088"/>
          </a:xfrm>
        </p:spPr>
        <p:txBody>
          <a:bodyPr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62474" name="Text Placeholder 2"/>
          <p:cNvSpPr>
            <a:spLocks noGrp="1"/>
          </p:cNvSpPr>
          <p:nvPr>
            <p:ph type="subTitle" idx="1"/>
          </p:nvPr>
        </p:nvSpPr>
        <p:spPr bwMode="black">
          <a:xfrm>
            <a:off x="250825" y="1341438"/>
            <a:ext cx="8662988" cy="503237"/>
          </a:xfrm>
        </p:spPr>
        <p:txBody>
          <a:bodyPr lIns="90000"/>
          <a:lstStyle>
            <a:lvl1pPr marL="0" indent="0">
              <a:buFont typeface="Arial" charset="0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4" name="Rectangle 13"/>
          <p:cNvSpPr>
            <a:spLocks noChangeArrowheads="1"/>
          </p:cNvSpPr>
          <p:nvPr userDrawn="1"/>
        </p:nvSpPr>
        <p:spPr bwMode="invGray">
          <a:xfrm>
            <a:off x="1071563" y="4200525"/>
            <a:ext cx="2303462" cy="2303463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1090613" y="4219575"/>
            <a:ext cx="226695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charset="0"/>
              <a:buNone/>
            </a:pPr>
            <a:r>
              <a:rPr lang="en-US" sz="1200" dirty="0"/>
              <a:t>FACULTY OF</a:t>
            </a:r>
            <a:br>
              <a:rPr lang="en-US" sz="1200" dirty="0"/>
            </a:br>
            <a:r>
              <a:rPr lang="en-US" sz="1200" dirty="0"/>
              <a:t>ENGINEERING</a:t>
            </a:r>
          </a:p>
        </p:txBody>
      </p:sp>
    </p:spTree>
  </p:cSld>
  <p:clrMapOvr>
    <a:masterClrMapping/>
  </p:clrMapOvr>
  <p:transition>
    <p:pull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AB187F-3B88-431B-B2AC-0056425A5D8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2B3CDA-1FF0-4D37-8902-D7DA16A4493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357313"/>
            <a:ext cx="42545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357313"/>
            <a:ext cx="4256088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F93DF4C-0FAF-44E1-AF80-F5F32603DC9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0B5EB9-22FA-4548-967D-4FA52B89D91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C4702A-60D6-4C6B-BD8F-D89A4C94729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A4E9A1-3F59-4AD6-AD24-F90C9461FA7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F91DA-57B7-4138-B53F-CABB7A35EDD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8A3C57-EF48-4F40-A532-BA73F249FBA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0F2067-C36F-4EF5-B99D-9752818D0A1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8463" y="428625"/>
            <a:ext cx="2165350" cy="602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428625"/>
            <a:ext cx="6345238" cy="602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368ECD-2EE0-45EB-B94C-41C290E034E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 userDrawn="1"/>
        </p:nvSpPr>
        <p:spPr bwMode="ltGray"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 bwMode="white">
          <a:xfrm flipH="1">
            <a:off x="0" y="5715000"/>
            <a:ext cx="91440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/>
          </a:p>
        </p:txBody>
      </p:sp>
      <p:sp>
        <p:nvSpPr>
          <p:cNvPr id="68617" name="Title Placeholder 1"/>
          <p:cNvSpPr>
            <a:spLocks noGrp="1"/>
          </p:cNvSpPr>
          <p:nvPr>
            <p:ph type="ctrTitle"/>
          </p:nvPr>
        </p:nvSpPr>
        <p:spPr bwMode="black">
          <a:xfrm>
            <a:off x="250825" y="1844675"/>
            <a:ext cx="7634288" cy="792163"/>
          </a:xfrm>
        </p:spPr>
        <p:txBody>
          <a:bodyPr anchor="ctr"/>
          <a:lstStyle>
            <a:lvl1pPr algn="l">
              <a:defRPr sz="28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68627" name="Rectangle 19"/>
          <p:cNvSpPr>
            <a:spLocks noGrp="1" noChangeArrowheads="1"/>
          </p:cNvSpPr>
          <p:nvPr>
            <p:ph type="subTitle" sz="quarter" idx="1"/>
          </p:nvPr>
        </p:nvSpPr>
        <p:spPr bwMode="black">
          <a:xfrm>
            <a:off x="7885113" y="1844675"/>
            <a:ext cx="1028700" cy="792163"/>
          </a:xfrm>
        </p:spPr>
        <p:txBody>
          <a:bodyPr lIns="91440"/>
          <a:lstStyle>
            <a:lvl1pPr marL="0" indent="0" algn="r">
              <a:buFont typeface="Arial" charset="0"/>
              <a:buNone/>
              <a:defRPr sz="4000" b="1"/>
            </a:lvl1pPr>
          </a:lstStyle>
          <a:p>
            <a:r>
              <a:rPr lang="en-AU"/>
              <a:t>#</a:t>
            </a:r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invGray">
          <a:xfrm>
            <a:off x="854075" y="5248275"/>
            <a:ext cx="1360488" cy="13589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>
    <p:pull dir="r"/>
  </p:transition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721748F-8A5B-4697-976E-C4F001CCC4C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C09E00-CBCC-4CFA-84B7-D67B9FA142C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357313"/>
            <a:ext cx="42545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357313"/>
            <a:ext cx="4256088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464BF4-A777-42CB-A0EC-4AB935B0A42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F71BE3-0BB0-49DF-83B9-EEAE90C85178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B2881D-72A9-4693-AC14-73A61867298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215E4B-A19F-40DB-B0C1-1876FFF5B0B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53BE9A-29C3-4007-A896-9BB9E489849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91422E-0723-4865-A87B-86F503C7374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FD3FCD4-9CFD-4429-BCC7-475FAFE3E30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8463" y="428625"/>
            <a:ext cx="2165350" cy="602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428625"/>
            <a:ext cx="6345238" cy="602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1CBE89-3739-4BC8-9ABD-E7EE1B42583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ltGray">
          <a:xfrm flipH="1">
            <a:off x="250825" y="260350"/>
            <a:ext cx="8678863" cy="954088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5299" name="Title Placeholder 1"/>
          <p:cNvSpPr>
            <a:spLocks noGrp="1"/>
          </p:cNvSpPr>
          <p:nvPr>
            <p:ph type="title"/>
          </p:nvPr>
        </p:nvSpPr>
        <p:spPr bwMode="auto">
          <a:xfrm>
            <a:off x="1873250" y="428625"/>
            <a:ext cx="70405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TITLE, FONT IN ARIAL 24PT  [1 line only]</a:t>
            </a:r>
            <a:endParaRPr lang="en-AU"/>
          </a:p>
        </p:txBody>
      </p:sp>
      <p:sp>
        <p:nvSpPr>
          <p:cNvPr id="553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57313"/>
            <a:ext cx="8662988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4575" y="6586538"/>
            <a:ext cx="249238" cy="2143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CE1126"/>
                </a:solidFill>
              </a:defRPr>
            </a:lvl1pPr>
          </a:lstStyle>
          <a:p>
            <a:fld id="{F4F90A38-9A51-4D76-9442-14E5AF6AE74C}" type="slidenum">
              <a:rPr lang="en-AU"/>
              <a:pPr/>
              <a:t>‹#›</a:t>
            </a:fld>
            <a:endParaRPr lang="en-AU"/>
          </a:p>
        </p:txBody>
      </p: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250825" y="6575425"/>
            <a:ext cx="8678863" cy="0"/>
          </a:xfrm>
          <a:prstGeom prst="line">
            <a:avLst/>
          </a:prstGeom>
          <a:noFill/>
          <a:ln w="28575" algn="ctr">
            <a:solidFill>
              <a:srgbClr val="CE1126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pull dir="r"/>
  </p:transition>
  <p:hf hdr="0" ftr="0" dt="0"/>
  <p:txStyles>
    <p:titleStyle>
      <a:lvl1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2pPr>
      <a:lvl3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3pPr>
      <a:lvl4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4pPr>
      <a:lvl5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4625" indent="-174625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2pPr>
      <a:lvl3pPr marL="53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3pPr>
      <a:lvl4pPr marL="717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4pPr>
      <a:lvl5pPr marL="8953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5pPr>
      <a:lvl6pPr marL="1352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6pPr>
      <a:lvl7pPr marL="180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7pPr>
      <a:lvl8pPr marL="22669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8pPr>
      <a:lvl9pPr marL="27241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ltGray">
          <a:xfrm flipH="1">
            <a:off x="250825" y="260350"/>
            <a:ext cx="8678863" cy="954088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1443" name="Title Placeholder 1"/>
          <p:cNvSpPr>
            <a:spLocks noGrp="1"/>
          </p:cNvSpPr>
          <p:nvPr>
            <p:ph type="title"/>
          </p:nvPr>
        </p:nvSpPr>
        <p:spPr bwMode="auto">
          <a:xfrm>
            <a:off x="250826" y="428625"/>
            <a:ext cx="8662988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TITLE, FONT IN ARIAL 24PT  [1 line only]</a:t>
            </a:r>
            <a:endParaRPr lang="en-AU"/>
          </a:p>
        </p:txBody>
      </p:sp>
      <p:sp>
        <p:nvSpPr>
          <p:cNvPr id="614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57313"/>
            <a:ext cx="8662988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4575" y="6586538"/>
            <a:ext cx="249238" cy="2143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CE1126"/>
                </a:solidFill>
              </a:defRPr>
            </a:lvl1pPr>
          </a:lstStyle>
          <a:p>
            <a:fld id="{4FA1396B-571C-4F99-A55A-A349256ED496}" type="slidenum">
              <a:rPr lang="en-AU"/>
              <a:pPr/>
              <a:t>‹#›</a:t>
            </a:fld>
            <a:endParaRPr lang="en-AU"/>
          </a:p>
        </p:txBody>
      </p: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250825" y="6575425"/>
            <a:ext cx="8678863" cy="0"/>
          </a:xfrm>
          <a:prstGeom prst="line">
            <a:avLst/>
          </a:prstGeom>
          <a:noFill/>
          <a:ln w="28575" algn="ctr">
            <a:solidFill>
              <a:srgbClr val="CE1126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ransition>
    <p:pull dir="r"/>
  </p:transition>
  <p:hf hdr="0" ftr="0" dt="0"/>
  <p:txStyles>
    <p:titleStyle>
      <a:lvl1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2pPr>
      <a:lvl3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3pPr>
      <a:lvl4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4pPr>
      <a:lvl5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4625" indent="-174625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2pPr>
      <a:lvl3pPr marL="53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3pPr>
      <a:lvl4pPr marL="717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4pPr>
      <a:lvl5pPr marL="8953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5pPr>
      <a:lvl6pPr marL="1352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6pPr>
      <a:lvl7pPr marL="180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7pPr>
      <a:lvl8pPr marL="22669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8pPr>
      <a:lvl9pPr marL="27241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ltGray">
          <a:xfrm flipH="1">
            <a:off x="250825" y="260350"/>
            <a:ext cx="8678863" cy="954088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7587" name="Title Placeholder 1"/>
          <p:cNvSpPr>
            <a:spLocks noGrp="1"/>
          </p:cNvSpPr>
          <p:nvPr>
            <p:ph type="title"/>
          </p:nvPr>
        </p:nvSpPr>
        <p:spPr bwMode="auto">
          <a:xfrm>
            <a:off x="250826" y="428625"/>
            <a:ext cx="8662988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TITLE, FONT IN ARIAL 24PT  [1 line only]</a:t>
            </a:r>
            <a:endParaRPr lang="en-AU"/>
          </a:p>
        </p:txBody>
      </p:sp>
      <p:sp>
        <p:nvSpPr>
          <p:cNvPr id="675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57313"/>
            <a:ext cx="8662988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4575" y="6586538"/>
            <a:ext cx="249238" cy="2143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CE1126"/>
                </a:solidFill>
              </a:defRPr>
            </a:lvl1pPr>
          </a:lstStyle>
          <a:p>
            <a:fld id="{953B6709-D289-4DDC-8FED-2C797522CE5D}" type="slidenum">
              <a:rPr lang="en-AU"/>
              <a:pPr/>
              <a:t>‹#›</a:t>
            </a:fld>
            <a:endParaRPr lang="en-AU"/>
          </a:p>
        </p:txBody>
      </p: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250825" y="6575425"/>
            <a:ext cx="8678863" cy="0"/>
          </a:xfrm>
          <a:prstGeom prst="line">
            <a:avLst/>
          </a:prstGeom>
          <a:noFill/>
          <a:ln w="28575" algn="ctr">
            <a:solidFill>
              <a:srgbClr val="CE1126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ransition>
    <p:pull dir="r"/>
  </p:transition>
  <p:hf hdr="0" ftr="0" dt="0"/>
  <p:txStyles>
    <p:titleStyle>
      <a:lvl1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2pPr>
      <a:lvl3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3pPr>
      <a:lvl4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4pPr>
      <a:lvl5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4625" indent="-174625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2pPr>
      <a:lvl3pPr marL="53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3pPr>
      <a:lvl4pPr marL="717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4pPr>
      <a:lvl5pPr marL="8953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5pPr>
      <a:lvl6pPr marL="1352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6pPr>
      <a:lvl7pPr marL="180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7pPr>
      <a:lvl8pPr marL="22669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8pPr>
      <a:lvl9pPr marL="27241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Grp="1"/>
          </p:cNvSpPr>
          <p:nvPr>
            <p:ph type="ctrTitle"/>
          </p:nvPr>
        </p:nvSpPr>
        <p:spPr>
          <a:xfrm>
            <a:off x="1331913" y="1347780"/>
            <a:ext cx="7581900" cy="1081088"/>
          </a:xfrm>
        </p:spPr>
        <p:txBody>
          <a:bodyPr>
            <a:normAutofit/>
          </a:bodyPr>
          <a:lstStyle/>
          <a:p>
            <a:r>
              <a:rPr lang="en-US"/>
              <a:t>Freshness-Aware Unified Speculative Budget Scheduling for SSD</a:t>
            </a:r>
            <a:endParaRPr 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393951" y="5233069"/>
            <a:ext cx="5570537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r>
              <a:rPr lang="en-US"/>
              <a:t>Ruben | simulator evidence + Qwen3-8B benchmark | 2026-03-17</a:t>
            </a:r>
            <a:endParaRPr lang="en-US"/>
          </a:p>
        </p:txBody>
      </p:sp>
    </p:spTree>
    <p:extLst>
      <p:ext uri="{BB962C8B-B14F-4D97-AF65-F5344CB8AC3E}">
        <p14:creationId val="714576443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1. Motivation: why linear verifier budgets break under SSD</a:t>
            </a:r>
            <a:endParaRPr lang="en-US"/>
          </a:p>
          <a:p>
            <a:r>
              <a:rPr lang="en-US"/>
              <a:t>2. Unified speculative budget formulation</a:t>
            </a:r>
            <a:endParaRPr lang="en-US"/>
          </a:p>
          <a:p>
            <a:r>
              <a:rPr lang="en-US"/>
              <a:t>3. Evidence from simulator and real Qwen3-8B runs</a:t>
            </a:r>
            <a:endParaRPr lang="en-US"/>
          </a:p>
          <a:p>
            <a:r>
              <a:rPr lang="en-US"/>
              <a:t>4. Calibration roadmap toward real multi-client scheduling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val="992308251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and Gap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GoodSpeed and G-FAST model a multi-client, single-verifier system, but still interpret S_i as linear speculative length.</a:t>
            </a:r>
            <a:endParaRPr lang="en-US"/>
          </a:p>
          <a:p>
            <a:r>
              <a:rPr lang="en-US"/>
              <a:t>Speculative Speculative Decoding shows one client can spend verifier work over a frontier: deeper, wider, or mixed branch expansion.</a:t>
            </a:r>
            <a:endParaRPr lang="en-US"/>
          </a:p>
          <a:p>
            <a:r>
              <a:rPr lang="en-US"/>
              <a:t>Our question is whether cross-client allocation changes once S_i keeps the same symbol but becomes a unified verifier-side speculative budget.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val="596122713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Framing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4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357313"/>
            <a:ext cx="3529087" cy="5095875"/>
          </a:xfrm>
        </p:spPr>
        <p:txBody>
          <a:bodyPr/>
          <a:lstStyle/>
          <a:p>
            <a:r>
              <a:rPr lang="en-US"/>
              <a:t>Keep the system-level control variable S_i, but reinterpret it as verifier-side speculative budget rather than draft length.</a:t>
            </a:r>
            <a:endParaRPr lang="en-US"/>
          </a:p>
          <a:p>
            <a:r>
              <a:rPr lang="en-US"/>
              <a:t>Each client maps S_i into an internal expansion policy over depth, width, and frontier quality xi_i.</a:t>
            </a:r>
            <a:endParaRPr lang="en-US"/>
          </a:p>
          <a:p>
            <a:r>
              <a:rPr lang="en-US"/>
              <a:t>Scheduling should maximize fresh accepted utility y_i^SSD, not accepted length under a linear service curve.</a:t>
            </a:r>
            <a:endParaRPr lang="en-US"/>
          </a:p>
          <a:p>
            <a:r>
              <a:rPr lang="en-US"/>
              <a:t>Hypothesis: once service semantics change, linear-budget schedulers systematically misallocate verifier compute.</a:t>
            </a:r>
            <a:endParaRPr lang="en-US"/>
          </a:p>
        </p:txBody>
      </p:sp>
      <p:sp>
        <p:nvSpPr>
          <p:cNvPr id="40" name="System Sketch Box"/>
          <p:cNvSpPr>
            <a:spLocks noGrp="1"/>
          </p:cNvSpPr>
          <p:nvPr/>
        </p:nvSpPr>
        <p:spPr>
          <a:xfrm>
            <a:off x="4940000" y="1540000"/>
            <a:ext cx="3300000" cy="1100000"/>
          </a:xfrm>
          <a:solidFill>
            <a:srgbClr val="F5EEE6"/>
          </a:solidFill>
          <a:ln>
            <a:solidFill>
              <a:srgbClr val="B35C1E"/>
            </a:solidFill>
          </a:ln>
          <a:prstGeom prst="rect">
            <a:avLst/>
          </a:prstGeom>
        </p:spPr>
        <p:txBody>
          <a:bodyPr wrap="square"/>
          <a:lstStyle/>
          <a:p>
            <a:r>
              <a:rPr lang="en-US" b="1"/>
              <a:t>System sketch</a:t>
            </a:r>
            <a:endParaRPr lang="en-US"/>
          </a:p>
          <a:p>
            <a:pPr lvl="0"/>
            <a:r>
              <a:rPr lang="en-US"/>
              <a:t>Verifier budget C -&gt; allocate S_i across clients</a:t>
            </a:r>
            <a:endParaRPr lang="en-US"/>
          </a:p>
        </p:txBody>
      </p:sp>
      <p:sp>
        <p:nvSpPr>
          <p:cNvPr id="41" name="Client Box"/>
          <p:cNvSpPr>
            <a:spLocks noGrp="1"/>
          </p:cNvSpPr>
          <p:nvPr/>
        </p:nvSpPr>
        <p:spPr>
          <a:xfrm>
            <a:off x="4940000" y="2770000"/>
            <a:ext cx="3300000" cy="1180000"/>
          </a:xfrm>
          <a:solidFill>
            <a:srgbClr val="EEF4EA"/>
          </a:solidFill>
          <a:ln>
            <a:solidFill>
              <a:srgbClr val="557A46"/>
            </a:solidFill>
          </a:ln>
          <a:prstGeom prst="rect">
            <a:avLst/>
          </a:prstGeom>
        </p:spPr>
        <p:txBody>
          <a:bodyPr wrap="square"/>
          <a:lstStyle/>
          <a:p>
            <a:r>
              <a:rPr lang="en-US" b="1"/>
              <a:t>Client response</a:t>
            </a:r>
            <a:endParaRPr lang="en-US"/>
          </a:p>
          <a:p>
            <a:pPr lvl="0"/>
            <a:r>
              <a:rPr lang="en-US"/>
              <a:t>depth / width / mixed frontier expansion</a:t>
            </a:r>
            <a:endParaRPr lang="en-US"/>
          </a:p>
        </p:txBody>
      </p:sp>
      <p:sp>
        <p:nvSpPr>
          <p:cNvPr id="42" name="Outcome Box"/>
          <p:cNvSpPr>
            <a:spLocks noGrp="1"/>
          </p:cNvSpPr>
          <p:nvPr/>
        </p:nvSpPr>
        <p:spPr>
          <a:xfrm>
            <a:off x="4940000" y="4080000"/>
            <a:ext cx="3300000" cy="1180000"/>
          </a:xfrm>
          <a:solidFill>
            <a:srgbClr val="EAF1F6"/>
          </a:solidFill>
          <a:ln>
            <a:solidFill>
              <a:srgbClr val="3F6F8C"/>
            </a:solidFill>
          </a:ln>
          <a:prstGeom prst="rect">
            <a:avLst/>
          </a:prstGeom>
        </p:spPr>
        <p:txBody>
          <a:bodyPr wrap="square"/>
          <a:lstStyle/>
          <a:p>
            <a:r>
              <a:rPr lang="en-US" b="1"/>
              <a:t>Observed utility</a:t>
            </a:r>
            <a:endParaRPr lang="en-US"/>
          </a:p>
          <a:p>
            <a:pPr lvl="0"/>
            <a:r>
              <a:rPr lang="en-US"/>
              <a:t>accepted utility depends on frontier state + freshness</a:t>
            </a:r>
            <a:endParaRPr lang="en-US"/>
          </a:p>
        </p:txBody>
      </p:sp>
    </p:spTree>
    <p:extLst>
      <p:ext uri="{BB962C8B-B14F-4D97-AF65-F5344CB8AC3E}">
        <p14:creationId val="1079194435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Related Work and Positioning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5</a:t>
            </a:fld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id="{9F2CFE8E-0CAC-71CB-922A-2C4B76F3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GoodSpeed / G-FAST line</a:t>
            </a:r>
            <a:endParaRPr lang="en-US"/>
          </a:p>
          <a:p>
            <a:r>
              <a:rPr lang="en-US"/>
              <a:t>Multi-client, single-verifier scheduling and fair goodput optimization.</a:t>
            </a:r>
            <a:endParaRPr lang="en-US"/>
          </a:p>
          <a:p>
            <a:r>
              <a:rPr lang="en-US"/>
              <a:t>Freshness-aware utility is already available at the system level.</a:t>
            </a:r>
            <a:endParaRPr lang="en-US"/>
          </a:p>
          <a:p>
            <a:r>
              <a:rPr lang="en-US"/>
              <a:t>But S_i still means linear speculative length in the client service model.</a:t>
            </a:r>
            <a:endParaRPr lang="en-US"/>
          </a:p>
        </p:txBody>
      </p:sp>
      <p:sp>
        <p:nvSpPr>
          <p:cNvPr id="50" name="SSD Column"/>
          <p:cNvSpPr>
            <a:spLocks noGrp="1"/>
          </p:cNvSpPr>
          <p:nvPr/>
        </p:nvSpPr>
        <p:spPr>
          <a:xfrm>
            <a:off x="4645025" y="1535113"/>
            <a:ext cx="4041775" cy="3000000"/>
          </a:xfrm>
          <a:noFill/>
          <a:ln>
            <a:noFill/>
          </a:ln>
          <a:prstGeom prst="rect">
            <a:avLst/>
          </a:prstGeom>
        </p:spPr>
        <p:txBody>
          <a:bodyPr wrap="square"/>
          <a:lstStyle/>
          <a:p>
            <a:r>
              <a:rPr lang="en-US"/>
              <a:t>SSD / tree line</a:t>
            </a:r>
            <a:endParaRPr lang="en-US"/>
          </a:p>
          <a:p>
            <a:pPr lvl="0"/>
            <a:r>
              <a:rPr lang="en-US"/>
              <a:t>Speculative Speculative Decoding uses a frontier rather than one draft chain.</a:t>
            </a:r>
            <a:endParaRPr lang="en-US"/>
          </a:p>
          <a:p>
            <a:pPr lvl="0"/>
            <a:r>
              <a:rPr lang="en-US"/>
              <a:t>The same verifier work can be spent on depth, width, or mixed branching.</a:t>
            </a:r>
            <a:endParaRPr lang="en-US"/>
          </a:p>
          <a:p>
            <a:pPr lvl="0"/>
            <a:r>
              <a:rPr lang="en-US"/>
              <a:t>That changes client-level service semantics and motivates unified budget scheduling.</a:t>
            </a:r>
            <a:endParaRPr lang="en-US"/>
          </a:p>
        </p:txBody>
      </p:sp>
      <p:sp>
        <p:nvSpPr>
          <p:cNvPr id="51" name="Takeaway Box"/>
          <p:cNvSpPr>
            <a:spLocks noGrp="1"/>
          </p:cNvSpPr>
          <p:nvPr/>
        </p:nvSpPr>
        <p:spPr>
          <a:xfrm>
            <a:off x="4645025" y="4700000"/>
            <a:ext cx="4041775" cy="1100000"/>
          </a:xfrm>
          <a:solidFill>
            <a:srgbClr val="F8F4E8"/>
          </a:solidFill>
          <a:ln>
            <a:solidFill>
              <a:srgbClr val="9D7A31"/>
            </a:solidFill>
          </a:ln>
          <a:prstGeom prst="rect">
            <a:avLst/>
          </a:prstGeom>
        </p:spPr>
        <p:txBody>
          <a:bodyPr wrap="square"/>
          <a:lstStyle/>
          <a:p>
            <a:r>
              <a:rPr lang="en-US" b="1"/>
              <a:t>Takeaway</a:t>
            </a:r>
            <a:endParaRPr lang="en-US"/>
          </a:p>
          <a:p>
            <a:pPr lvl="0"/>
            <a:r>
              <a:rPr lang="en-US"/>
              <a:t>Our project sits between these lines: keep GoodSpeed-style scheduling, but replace the linear client service model with SSD-aware unified budget semantics.</a:t>
            </a:r>
            <a:endParaRPr lang="en-US"/>
          </a:p>
        </p:txBody>
      </p:sp>
    </p:spTree>
    <p:extLst>
      <p:ext uri="{BB962C8B-B14F-4D97-AF65-F5344CB8AC3E}">
        <p14:creationId val="457651307"/>
      </p:ext>
    </p:extLst>
  </p:cSld>
  <p:clrMapOvr>
    <a:masterClrMapping/>
  </p:clrMapOvr>
  <mc:AlternateContent>
    <mc:Choice Requires="p14">
      <p:transition p14:dur="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Evidence So Far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id="{2C0EA5A8-F245-9AB0-51E7-4394D000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0" name="Summary Banner"/>
          <p:cNvSpPr>
            <a:spLocks noGrp="1"/>
          </p:cNvSpPr>
          <p:nvPr/>
        </p:nvSpPr>
        <p:spPr>
          <a:xfrm>
            <a:off x="457200" y="1250000"/>
            <a:ext cx="8229600" cy="800000"/>
          </a:xfrm>
          <a:solidFill>
            <a:srgbClr val="F3EEE7"/>
          </a:solidFill>
          <a:ln>
            <a:solidFill>
              <a:srgbClr val="A86A2C"/>
            </a:solidFill>
          </a:ln>
          <a:prstGeom prst="rect">
            <a:avLst/>
          </a:prstGeom>
        </p:spPr>
        <p:txBody>
          <a:bodyPr wrap="square"/>
          <a:lstStyle/>
          <a:p>
            <a:r>
              <a:rPr lang="en-US" b="1"/>
              <a:t>Summary</a:t>
            </a:r>
            <a:endParaRPr lang="en-US"/>
          </a:p>
          <a:p>
            <a:pPr lvl="0"/>
            <a:r>
              <a:rPr lang="en-US"/>
              <a:t>Both the simulator and the real Qwen3-8B runs point in the same direction: verifier-side budget semantics matter.</a:t>
            </a:r>
            <a:endParaRPr lang="en-US"/>
          </a:p>
        </p:txBody>
      </p:sp>
      <p:sp>
        <p:nvSpPr>
          <p:cNvPr id="61" name="Simulator Box"/>
          <p:cNvSpPr>
            <a:spLocks noGrp="1"/>
          </p:cNvSpPr>
          <p:nvPr/>
        </p:nvSpPr>
        <p:spPr>
          <a:xfrm>
            <a:off x="457200" y="2300000"/>
            <a:ext cx="3900000" cy="2900000"/>
          </a:xfrm>
          <a:noFill/>
          <a:ln>
            <a:noFill/>
          </a:ln>
          <a:prstGeom prst="rect">
            <a:avLst/>
          </a:prstGeom>
        </p:spPr>
        <p:txBody>
          <a:bodyPr wrap="square"/>
          <a:lstStyle/>
          <a:p>
            <a:r>
              <a:rPr lang="en-US"/>
              <a:t>Simulator</a:t>
            </a:r>
            <a:endParaRPr lang="en-US"/>
          </a:p>
          <a:p>
            <a:pPr lvl="0"/>
            <a:r>
              <a:rPr lang="en-US"/>
              <a:t>Baseline utility: unified 70.90 vs linear 70.62, with fairness still about 0.99.</a:t>
            </a:r>
            <a:endParaRPr lang="en-US"/>
          </a:p>
          <a:p>
            <a:pPr lvl="0"/>
            <a:r>
              <a:rPr lang="en-US"/>
              <a:t>Sweep result: unified wins 60/81 cases; allocation-order reversals also happen in 60/81 cases.</a:t>
            </a:r>
            <a:endParaRPr lang="en-US"/>
          </a:p>
          <a:p>
            <a:pPr lvl="0"/>
            <a:r>
              <a:rPr lang="en-US"/>
              <a:t>Utility-order reversals are rare at 3/81, so the main signal is structural mismatch.</a:t>
            </a:r>
            <a:endParaRPr lang="en-US"/>
          </a:p>
          <a:p>
            <a:pPr lvl="0"/>
            <a:r>
              <a:rPr lang="en-US"/>
              <a:t>Representative gain case: budget=14, load=1.30, mix=linear_skewed, utility +3.94.</a:t>
            </a:r>
            <a:endParaRPr lang="en-US"/>
          </a:p>
        </p:txBody>
      </p:sp>
      <p:sp>
        <p:nvSpPr>
          <p:cNvPr id="62" name="Real Bench Box"/>
          <p:cNvSpPr>
            <a:spLocks noGrp="1"/>
          </p:cNvSpPr>
          <p:nvPr/>
        </p:nvSpPr>
        <p:spPr>
          <a:xfrm>
            <a:off x="4670000" y="2300000"/>
            <a:ext cx="4020000" cy="2900000"/>
          </a:xfrm>
          <a:noFill/>
          <a:ln>
            <a:noFill/>
          </a:ln>
          <a:prstGeom prst="rect">
            <a:avLst/>
          </a:prstGeom>
        </p:spPr>
        <p:txBody>
          <a:bodyPr wrap="square"/>
          <a:lstStyle/>
          <a:p>
            <a:r>
              <a:rPr lang="en-US"/>
              <a:t>Real Qwen3-8B benchmark</a:t>
            </a:r>
            <a:endParaRPr lang="en-US"/>
          </a:p>
          <a:p>
            <a:pPr lvl="0"/>
            <a:r>
              <a:rPr lang="en-US"/>
              <a:t>AR baseline: 34.0 tok/s and 120.4 s total time.</a:t>
            </a:r>
            <a:endParaRPr lang="en-US"/>
          </a:p>
          <a:p>
            <a:pPr lvl="0"/>
            <a:r>
              <a:rPr lang="en-US"/>
              <a:t>Sync spec k=6 reaches 77.4 tok/s.</a:t>
            </a:r>
            <a:endParaRPr lang="en-US"/>
          </a:p>
          <a:p>
            <a:pPr lvl="0"/>
            <a:r>
              <a:rPr lang="en-US"/>
              <a:t>Async SSD k=6, f=3 reaches 105.0 tok/s, 39.0 s total time, 0.776 cache hits, and accepted suffix 4.34.</a:t>
            </a:r>
            <a:endParaRPr lang="en-US"/>
          </a:p>
          <a:p>
            <a:pPr lvl="0"/>
            <a:r>
              <a:rPr lang="en-US"/>
              <a:t>That is 3.09x AR throughput and 1.36x the sync baseline.</a:t>
            </a:r>
            <a:endParaRPr lang="en-US"/>
          </a:p>
        </p:txBody>
      </p:sp>
      <p:sp>
        <p:nvSpPr>
          <p:cNvPr id="63" name="Interpretation Box"/>
          <p:cNvSpPr>
            <a:spLocks noGrp="1"/>
          </p:cNvSpPr>
          <p:nvPr/>
        </p:nvSpPr>
        <p:spPr>
          <a:xfrm>
            <a:off x="457200" y="5450000"/>
            <a:ext cx="8120000" cy="650000"/>
          </a:xfrm>
          <a:solidFill>
            <a:srgbClr val="EAF1F6"/>
          </a:solidFill>
          <a:ln>
            <a:solidFill>
              <a:srgbClr val="3F6F8C"/>
            </a:solidFill>
          </a:ln>
          <a:prstGeom prst="rect">
            <a:avLst/>
          </a:prstGeom>
        </p:spPr>
        <p:txBody>
          <a:bodyPr wrap="square"/>
          <a:lstStyle/>
          <a:p>
            <a:r>
              <a:rPr lang="en-US" b="1"/>
              <a:t>Interpretation</a:t>
            </a:r>
            <a:endParaRPr lang="en-US"/>
          </a:p>
          <a:p>
            <a:pPr lvl="0"/>
            <a:r>
              <a:rPr lang="en-US"/>
              <a:t>The next step is calibration: fit simulator service curves from accepted suffix length, cache hit behavior, and verifier-side timing instead of claiming final gains already proven.</a:t>
            </a:r>
            <a:endParaRPr lang="en-US"/>
          </a:p>
        </p:txBody>
      </p:sp>
    </p:spTree>
    <p:extLst>
      <p:ext uri="{BB962C8B-B14F-4D97-AF65-F5344CB8AC3E}">
        <p14:creationId val="554409588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Verifier compute is the scarce resource, so budget semantics must be modeled on the verifier side.</a:t>
            </a:r>
            <a:endParaRPr lang="en-US"/>
          </a:p>
          <a:p>
            <a:r>
              <a:rPr lang="en-US"/>
              <a:t>Under SSD, equal nominal budget can buy very different client-level service depending on frontier state and expansion policy.</a:t>
            </a:r>
            <a:endParaRPr lang="en-US"/>
          </a:p>
          <a:p>
            <a:r>
              <a:rPr lang="en-US"/>
              <a:t>The simulator already shows frequent allocation reversals, while real async SSD runs show the regime is worth calibrating, not hand-waving.</a:t>
            </a:r>
            <a:endParaRPr lang="en-US"/>
          </a:p>
          <a:p>
            <a:r>
              <a:rPr lang="en-US"/>
              <a:t>The next milestone is calibrated unified scheduling, not yet a claim of production-ready online control.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val="1066955397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Directions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Fit simulator service curves from accepted suffix length, cache hit rate, and verifier-side timing metrics.</a:t>
            </a:r>
            <a:endParaRPr lang="en-US"/>
          </a:p>
          <a:p>
            <a:r>
              <a:rPr lang="en-US"/>
              <a:t>Use repeat_bench.py to collect repeated runs for k in {4,6,8} and f in {2,3,4} with confidence intervals.</a:t>
            </a:r>
            <a:endParaRPr lang="en-US"/>
          </a:p>
          <a:p>
            <a:r>
              <a:rPr lang="en-US"/>
              <a:t>Calibrate frontier state xi_i from hit-heavy versus miss-heavy SSD regimes.</a:t>
            </a:r>
            <a:endParaRPr lang="en-US"/>
          </a:p>
          <a:p>
            <a:r>
              <a:rPr lang="en-US"/>
              <a:t>After calibration, test a freshness-aware unified scheduler inside the real SSD runtime.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8</a:t>
            </a:fld>
            <a:endParaRPr lang="en-AU"/>
          </a:p>
        </p:txBody>
      </p:sp>
    </p:spTree>
    <p:extLst>
      <p:ext uri="{BB962C8B-B14F-4D97-AF65-F5344CB8AC3E}">
        <p14:creationId val="2832186618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SpecDiff project update</a:t>
            </a:r>
            <a:endParaRPr lang="en-US"/>
          </a:p>
          <a:p>
            <a:r>
              <a:rPr lang="en-US"/>
              <a:t>Questions and discussion</a:t>
            </a:r>
            <a:endParaRPr lang="en-US"/>
          </a:p>
          <a:p>
            <a:r>
              <a:rPr lang="en-US"/>
              <a:t>Can the structural mismatch signal survive calibration with real SSD metrics?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9</a:t>
            </a:fld>
            <a:endParaRPr lang="en-AU"/>
          </a:p>
        </p:txBody>
      </p:sp>
    </p:spTree>
    <p:extLst>
      <p:ext uri="{BB962C8B-B14F-4D97-AF65-F5344CB8AC3E}">
        <p14:creationId val="3027614786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and Thanks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Papers: GoodSpeed: Optimizing Fair Goodput with Adaptive Speculative Decoding in Distributed Edge Inference; Speculative Speculative Decoding.</a:t>
            </a:r>
            <a:endParaRPr lang="en-US"/>
          </a:p>
          <a:p>
            <a:r>
              <a:rPr lang="en-US"/>
              <a:t>Project artifacts: paper/idea.md, sim/README.md, sim/guide.md, sim/experiments/repeat_bench.py.</a:t>
            </a:r>
            <a:endParaRPr lang="en-US"/>
          </a:p>
          <a:p>
            <a:r>
              <a:rPr lang="en-US"/>
              <a:t>Bench setup: Qwen3-8B target, Qwen3-0.6B draft, 2 x RTX A4500, random prompts, numseqs=32, output_len=128.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10</a:t>
            </a:fld>
            <a:endParaRPr lang="en-AU"/>
          </a:p>
        </p:txBody>
      </p:sp>
    </p:spTree>
    <p:extLst>
      <p:ext uri="{BB962C8B-B14F-4D97-AF65-F5344CB8AC3E}">
        <p14:creationId val="566723972"/>
      </p:ext>
    </p:extLst>
  </p:cSld>
  <p:clrMapOvr>
    <a:masterClrMapping/>
  </p:clrMapOvr>
  <mc:AlternateContent>
    <mc:Choice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8_UNIS Master">
  <a:themeElements>
    <a:clrScheme name="8_UNIS Master 1">
      <a:dk1>
        <a:srgbClr val="000000"/>
      </a:dk1>
      <a:lt1>
        <a:srgbClr val="FFFFFF"/>
      </a:lt1>
      <a:dk2>
        <a:srgbClr val="12416C"/>
      </a:dk2>
      <a:lt2>
        <a:srgbClr val="F9B72C"/>
      </a:lt2>
      <a:accent1>
        <a:srgbClr val="0098DB"/>
      </a:accent1>
      <a:accent2>
        <a:srgbClr val="40B2E4"/>
      </a:accent2>
      <a:accent3>
        <a:srgbClr val="FFFFFF"/>
      </a:accent3>
      <a:accent4>
        <a:srgbClr val="000000"/>
      </a:accent4>
      <a:accent5>
        <a:srgbClr val="AACAEA"/>
      </a:accent5>
      <a:accent6>
        <a:srgbClr val="39A1CF"/>
      </a:accent6>
      <a:hlink>
        <a:srgbClr val="0000FF"/>
      </a:hlink>
      <a:folHlink>
        <a:srgbClr val="0000FF"/>
      </a:folHlink>
    </a:clrScheme>
    <a:fontScheme name="8_UNIS 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8_UNIS Master 1">
        <a:dk1>
          <a:srgbClr val="000000"/>
        </a:dk1>
        <a:lt1>
          <a:srgbClr val="FFFFFF"/>
        </a:lt1>
        <a:dk2>
          <a:srgbClr val="12416C"/>
        </a:dk2>
        <a:lt2>
          <a:srgbClr val="F9B72C"/>
        </a:lt2>
        <a:accent1>
          <a:srgbClr val="0098DB"/>
        </a:accent1>
        <a:accent2>
          <a:srgbClr val="40B2E4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39A1CF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0_UNIS Master">
  <a:themeElements>
    <a:clrScheme name="10_UNIS Master 1">
      <a:dk1>
        <a:srgbClr val="000000"/>
      </a:dk1>
      <a:lt1>
        <a:srgbClr val="FFFFFF"/>
      </a:lt1>
      <a:dk2>
        <a:srgbClr val="12416C"/>
      </a:dk2>
      <a:lt2>
        <a:srgbClr val="F9B72C"/>
      </a:lt2>
      <a:accent1>
        <a:srgbClr val="0098DB"/>
      </a:accent1>
      <a:accent2>
        <a:srgbClr val="40B2E4"/>
      </a:accent2>
      <a:accent3>
        <a:srgbClr val="FFFFFF"/>
      </a:accent3>
      <a:accent4>
        <a:srgbClr val="000000"/>
      </a:accent4>
      <a:accent5>
        <a:srgbClr val="AACAEA"/>
      </a:accent5>
      <a:accent6>
        <a:srgbClr val="39A1CF"/>
      </a:accent6>
      <a:hlink>
        <a:srgbClr val="0000FF"/>
      </a:hlink>
      <a:folHlink>
        <a:srgbClr val="0000FF"/>
      </a:folHlink>
    </a:clrScheme>
    <a:fontScheme name="10_UNIS 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0_UNIS Master 1">
        <a:dk1>
          <a:srgbClr val="000000"/>
        </a:dk1>
        <a:lt1>
          <a:srgbClr val="FFFFFF"/>
        </a:lt1>
        <a:dk2>
          <a:srgbClr val="12416C"/>
        </a:dk2>
        <a:lt2>
          <a:srgbClr val="F9B72C"/>
        </a:lt2>
        <a:accent1>
          <a:srgbClr val="0098DB"/>
        </a:accent1>
        <a:accent2>
          <a:srgbClr val="40B2E4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39A1CF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3_UNIS Master">
  <a:themeElements>
    <a:clrScheme name="13_UNIS Master 1">
      <a:dk1>
        <a:srgbClr val="000000"/>
      </a:dk1>
      <a:lt1>
        <a:srgbClr val="FFFFFF"/>
      </a:lt1>
      <a:dk2>
        <a:srgbClr val="12416C"/>
      </a:dk2>
      <a:lt2>
        <a:srgbClr val="F9B72C"/>
      </a:lt2>
      <a:accent1>
        <a:srgbClr val="0098DB"/>
      </a:accent1>
      <a:accent2>
        <a:srgbClr val="40B2E4"/>
      </a:accent2>
      <a:accent3>
        <a:srgbClr val="FFFFFF"/>
      </a:accent3>
      <a:accent4>
        <a:srgbClr val="000000"/>
      </a:accent4>
      <a:accent5>
        <a:srgbClr val="AACAEA"/>
      </a:accent5>
      <a:accent6>
        <a:srgbClr val="39A1CF"/>
      </a:accent6>
      <a:hlink>
        <a:srgbClr val="0000FF"/>
      </a:hlink>
      <a:folHlink>
        <a:srgbClr val="0000FF"/>
      </a:folHlink>
    </a:clrScheme>
    <a:fontScheme name="13_UNIS 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3_UNIS Master 1">
        <a:dk1>
          <a:srgbClr val="000000"/>
        </a:dk1>
        <a:lt1>
          <a:srgbClr val="FFFFFF"/>
        </a:lt1>
        <a:dk2>
          <a:srgbClr val="12416C"/>
        </a:dk2>
        <a:lt2>
          <a:srgbClr val="F9B72C"/>
        </a:lt2>
        <a:accent1>
          <a:srgbClr val="0098DB"/>
        </a:accent1>
        <a:accent2>
          <a:srgbClr val="40B2E4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39A1CF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5195</TotalTime>
  <Words>93</Words>
  <Application>Microsoft Macintosh PowerPoint</Application>
  <PresentationFormat>On-screen Show (4:3)</PresentationFormat>
  <Paragraphs>46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8_UNIS Master</vt:lpstr>
      <vt:lpstr>10_UNIS Master</vt:lpstr>
      <vt:lpstr>13_UNIS Master</vt:lpstr>
      <vt:lpstr>Title of your work</vt:lpstr>
      <vt:lpstr>Outline</vt:lpstr>
      <vt:lpstr>Introduction</vt:lpstr>
      <vt:lpstr>PUT YOUR TITLE HERE</vt:lpstr>
      <vt:lpstr>BLANK SLIDE</vt:lpstr>
      <vt:lpstr>PUT A TITLE HERE</vt:lpstr>
      <vt:lpstr>Conclusion</vt:lpstr>
      <vt:lpstr>Future Directions</vt:lpstr>
      <vt:lpstr>PowerPoint Presentation</vt:lpstr>
      <vt:lpstr>Acknowledgements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Freshness-Aware Unified Speculative Budget Scheduling for SSD</dc:title>
  <dc:subject>INFO4990/5993</dc:subject>
  <dc:creator/>
  <cp:keywords/>
  <dc:description/>
  <cp:lastModifiedBy>James Phung</cp:lastModifiedBy>
  <cp:revision>593</cp:revision>
  <dcterms:created xsi:type="dcterms:W3CDTF">2010-09-21T23:48:57Z</dcterms:created>
  <dcterms:modified xsi:type="dcterms:W3CDTF">2025-05-08T07:50:18Z</dcterms:modified>
  <cp:category/>
</cp:coreProperties>
</file>